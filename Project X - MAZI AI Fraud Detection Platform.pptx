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DM Sans" pitchFamily="2" charset="0"/>
      <p:bold r:id="rId44"/>
    </p:embeddedFont>
    <p:embeddedFont>
      <p:font typeface="Imprint MT Shadow" panose="04020605060303030202" pitchFamily="82" charset="0"/>
      <p:regular r:id="rId45"/>
    </p:embeddedFont>
    <p:embeddedFont>
      <p:font typeface="JetBrains Mono"/>
      <p:bold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62475"/>
            <a:ext cx="6858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80588" y="691460"/>
            <a:ext cx="8351902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200" b="1" i="1" u="none" dirty="0">
                <a:solidFill>
                  <a:srgbClr val="FF0000"/>
                </a:solidFill>
                <a:latin typeface="Imprint MT Shadow" panose="04020605060303030202" pitchFamily="82" charset="0"/>
              </a:rPr>
              <a:t>                        </a:t>
            </a:r>
            <a:r>
              <a:rPr sz="3200" b="1" i="1" u="none" dirty="0">
                <a:solidFill>
                  <a:srgbClr val="FF0000"/>
                </a:solidFill>
                <a:latin typeface="Imprint MT Shadow" panose="04020605060303030202" pitchFamily="82" charset="0"/>
              </a:rPr>
              <a:t>PROJECT X </a:t>
            </a:r>
            <a:endParaRPr lang="en-US" sz="3200" b="1" i="1" u="none" dirty="0">
              <a:solidFill>
                <a:srgbClr val="FF0000"/>
              </a:solidFill>
              <a:latin typeface="Imprint MT Shadow" panose="04020605060303030202" pitchFamily="82" charset="0"/>
            </a:endParaRPr>
          </a:p>
          <a:p>
            <a:pPr algn="l"/>
            <a:endParaRPr lang="en-US" sz="2400" dirty="0">
              <a:solidFill>
                <a:srgbClr val="38BDF8"/>
              </a:solidFill>
              <a:latin typeface="JetBrains Mono"/>
            </a:endParaRPr>
          </a:p>
          <a:p>
            <a:pPr algn="l"/>
            <a:r>
              <a:rPr sz="2400" b="0" i="0" u="none" dirty="0">
                <a:solidFill>
                  <a:srgbClr val="38BDF8"/>
                </a:solidFill>
                <a:latin typeface="JetBrains Mono"/>
              </a:rPr>
              <a:t> RICHFIELD GRADUATE INSTITUTE OF TECHNOLOGY (FINAL YEAR 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28825"/>
            <a:ext cx="9701212" cy="1338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350" b="1" i="0" u="none" dirty="0">
                <a:solidFill>
                  <a:srgbClr val="FF0000"/>
                </a:solidFill>
                <a:latin typeface="DM Sans"/>
              </a:rPr>
              <a:t>MAZI AI</a:t>
            </a:r>
            <a:r>
              <a:rPr sz="4350" b="1" i="0" u="none" dirty="0">
                <a:solidFill>
                  <a:srgbClr val="F8FAFC"/>
                </a:solidFill>
                <a:latin typeface="DM Sans"/>
              </a:rPr>
              <a:t>: </a:t>
            </a:r>
            <a:r>
              <a:rPr sz="4350" b="1" i="0" u="none" dirty="0">
                <a:solidFill>
                  <a:srgbClr val="FFFF00"/>
                </a:solidFill>
                <a:latin typeface="DM Sans"/>
              </a:rPr>
              <a:t>Real-Time Fraud &amp; Threat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99" y="3667125"/>
            <a:ext cx="8357419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94A3B8"/>
                </a:solidFill>
                <a:latin typeface="DM Sans"/>
              </a:rPr>
              <a:t>Hybrid Machine Learning, Native C++ Velocity Math, Glass-Box Explainable AI, and 3NF SQLite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943475"/>
            <a:ext cx="686726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E2E8F0"/>
                </a:solidFill>
                <a:latin typeface="DM Sans"/>
              </a:rPr>
              <a:t>Lead Presenter: Gareth Chingwaru (402412340) &amp; Full Project X </a:t>
            </a:r>
            <a:r>
              <a:rPr sz="1350" b="1" i="1" u="none" dirty="0">
                <a:solidFill>
                  <a:srgbClr val="FF0000"/>
                </a:solidFill>
                <a:latin typeface="DM Sans"/>
              </a:rPr>
              <a:t>Engineering Syndicate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979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46784" y="24979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59721" y="24979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14023" y="24979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0313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46784" y="30313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59721" y="30313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14023" y="30313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5647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46784" y="35647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59721" y="35647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14023" y="35647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0981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46784" y="40981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59721" y="40981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14023" y="40981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46315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46784" y="46315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59721" y="46315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14023" y="46315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51649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46784" y="51649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59721" y="51649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14023" y="51649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600" y="5698331"/>
            <a:ext cx="2237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46784" y="5698331"/>
            <a:ext cx="11129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59721" y="5698331"/>
            <a:ext cx="46543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14023" y="5698331"/>
            <a:ext cx="2968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09600" y="2050256"/>
          <a:ext cx="10972797" cy="3662362"/>
        </p:xfrm>
        <a:graphic>
          <a:graphicData uri="http://schemas.openxmlformats.org/drawingml/2006/table">
            <a:tbl>
              <a:tblPr/>
              <a:tblGrid>
                <a:gridCol w="223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4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1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Engineer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Student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Primary Architecture 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Assigned Slides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1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Gareth Chingwaru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402412340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DM Sans"/>
                        </a:rPr>
                        <a:t>Machine Learning, System Design, XAI &amp; Demo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1–4, 15–17, 27–32, 41–42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1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Thembelele Khuzwayo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402412842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DM Sans"/>
                        </a:rPr>
                        <a:t>Database Management &amp; Cybersecurity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5–8, 19–25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1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Kagiso Nyati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402411471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DM Sans"/>
                        </a:rPr>
                        <a:t>Python Flask Backend, REST APIs &amp; Simulator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9–11, 33–35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1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Shelton Ngube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402410808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DM Sans"/>
                        </a:rPr>
                        <a:t>C++ Fast Math Extension &amp; Data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13–14, 36–37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1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Sibusiso Kwinda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402312989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DM Sans"/>
                        </a:rPr>
                        <a:t>HTML5, Jinja2 Integration &amp; Command Center 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38–39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19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Kamuhelo Chaka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402309160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DM Sans"/>
                        </a:rPr>
                        <a:t>Cyberpunk Glassmorphism CSS &amp; Chart.js Visuals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0284C7"/>
                </a:solidFill>
                <a:latin typeface="JetBrains Mono"/>
              </a:rPr>
              <a:t>PROJECT X SYNDICATE — ROLES &amp; SLIDE ALLOCATION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7239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Project X Engineering Team Roster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7450"/>
            <a:ext cx="5257800" cy="28860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705100"/>
            <a:ext cx="5257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 — GARETH CHINGWARU (402412340)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6757363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DM Sans"/>
              </a:rPr>
              <a:t>What Exactly Is</a:t>
            </a:r>
            <a:r>
              <a:rPr lang="en-US" sz="2550" b="1" i="0" u="none" dirty="0">
                <a:solidFill>
                  <a:srgbClr val="0F172A"/>
                </a:solidFill>
                <a:latin typeface="DM Sans"/>
              </a:rPr>
              <a:t>&gt;&gt;&gt;&gt;&gt;&gt;&gt;&gt;&gt;&gt;&gt;&gt;&gt;&gt;&gt;</a:t>
            </a:r>
            <a:r>
              <a:rPr sz="2550" b="1" i="0" u="none" dirty="0">
                <a:solidFill>
                  <a:srgbClr val="0F172A"/>
                </a:solidFill>
                <a:latin typeface="DM Sans"/>
              </a:rPr>
              <a:t> MAZI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800350"/>
            <a:ext cx="60007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DM Sans"/>
              </a:rPr>
              <a:t>Enterprise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048000"/>
            <a:ext cx="5524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11D48"/>
                </a:solidFill>
                <a:latin typeface="DM Sans"/>
              </a:rPr>
              <a:t>Hybrid Engine 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21945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8025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293B"/>
                </a:solidFill>
                <a:latin typeface="DM Sans"/>
              </a:rPr>
              <a:t>Project X Syndicate: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 Six-person final-year engineering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481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76675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293B"/>
                </a:solidFill>
                <a:latin typeface="DM Sans"/>
              </a:rPr>
              <a:t>MAZI AI Product: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 Real-time SOC fraud command center.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47675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05325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Browser Access: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Zero desktop installation on bank PCs.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4671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495675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Flask Server: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Modular Python routing in app.py.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8481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76675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Compiled C++: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Sub-millisecond math via fast_math.cpp.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47675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505325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Core Mission: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Score 0–100% risk with XAI clarity.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4662"/>
            <a:ext cx="2407443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4718" y="2890837"/>
            <a:ext cx="2407443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19837" y="3014662"/>
            <a:ext cx="2407443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74956" y="3014662"/>
            <a:ext cx="2407443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443" y="3786187"/>
            <a:ext cx="1428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3786187"/>
            <a:ext cx="1428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681" y="3786187"/>
            <a:ext cx="1428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281362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218" y="3157537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3281362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5456" y="3281362"/>
            <a:ext cx="3810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3 — GARETH CHINGWARU (402412340)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Analogy: The Digital Bank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738562"/>
            <a:ext cx="265970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1. Watches Door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062412"/>
            <a:ext cx="2121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Inspects every EFT transfer instantly.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5218" y="3614737"/>
            <a:ext cx="2227778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2. Scores Danger 0–100%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5218" y="4186237"/>
            <a:ext cx="2121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Detects sudden balance drainage.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337" y="3738562"/>
            <a:ext cx="265970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3. Explains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337" y="4062412"/>
            <a:ext cx="2121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Reveals exact anomaly weights.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5456" y="3738562"/>
            <a:ext cx="265970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4. Empowers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456" y="4062412"/>
            <a:ext cx="2121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One-click analyst case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7925"/>
            <a:ext cx="5257800" cy="2905125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447925"/>
            <a:ext cx="5257800" cy="2905125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SLIDE 4 — THEMBELELE KHUZWAYO (402412842)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The Real-World Banking Fraud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790825"/>
            <a:ext cx="60007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11D48"/>
                </a:solidFill>
                <a:latin typeface="DM Sans"/>
              </a:rPr>
              <a:t>Failure of Static Bank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790825"/>
            <a:ext cx="5524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The Black-Box AI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2289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5755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Exploding Volume: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Millions of daily instant EFT payments.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576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Threshold Bypass: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Criminals send R9,999 under R10,000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4862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1485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False Positives: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Innocent customers locked out on payday.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2289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5755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Account Takeovers: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Rapid cash-out mule schemes in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8576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8620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Zero Explanation: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Traditional AI hides decision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4862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51485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Audit Blindness: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Compliance officers lack forensic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1312"/>
            <a:ext cx="257175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881312"/>
            <a:ext cx="257175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95612"/>
            <a:ext cx="257175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862262"/>
            <a:ext cx="257175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480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14801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262312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50" y="3128962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5 — THEMBELELE KHUZWAYO (402412842)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How MAZI AI Solves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052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10-Feature ML 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67162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Evaluates behavioral balance vectors simultaneously.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36052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C++ Velocity 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967162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Compiled fast_math.pyd prevents traffic bottlenecks.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7195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Glass-Box XAI Bars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0814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Visual rationale across four risk dimensions.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7350" y="3586162"/>
            <a:ext cx="224028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Immutable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7350" y="421481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Permanent compliance logs inside mazi.db.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6 — THEMBELELE KHUZWAYO (402412842)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Key Engineering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86112"/>
            <a:ext cx="271462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284C7"/>
                </a:solidFill>
                <a:latin typeface="JetBrains Mono"/>
              </a:rPr>
              <a:t>0.42ms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00512"/>
            <a:ext cx="2714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C++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86262"/>
            <a:ext cx="2714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Sub-millisecond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4325" y="3186112"/>
            <a:ext cx="1551707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 dirty="0">
                <a:solidFill>
                  <a:srgbClr val="059669"/>
                </a:solidFill>
                <a:latin typeface="JetBrains Mono"/>
              </a:rPr>
              <a:t>9</a:t>
            </a:r>
            <a:r>
              <a:rPr lang="en-US" sz="4800" b="1" i="0" u="none" dirty="0">
                <a:solidFill>
                  <a:srgbClr val="059669"/>
                </a:solidFill>
                <a:latin typeface="JetBrains Mono"/>
              </a:rPr>
              <a:t>6</a:t>
            </a:r>
            <a:r>
              <a:rPr sz="4800" b="1" i="0" u="none" dirty="0">
                <a:solidFill>
                  <a:srgbClr val="059669"/>
                </a:solidFill>
                <a:latin typeface="JetBrains Mono"/>
              </a:rPr>
              <a:t>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4325" y="4100512"/>
            <a:ext cx="234553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ROC-AUC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4325" y="4386262"/>
            <a:ext cx="23455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Low 1.8% false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3776" y="3186112"/>
            <a:ext cx="2643187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E11D48"/>
                </a:solidFill>
                <a:latin typeface="JetBrains Mono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3776" y="4100512"/>
            <a:ext cx="2643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XAI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3776" y="4386262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Zero black-box guesswork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1352" y="3186112"/>
            <a:ext cx="2738437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F172A"/>
                </a:solidFill>
                <a:latin typeface="JetBrains Mono"/>
              </a:rPr>
              <a:t>R0.00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1352" y="4100512"/>
            <a:ext cx="27384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License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1352" y="4386262"/>
            <a:ext cx="2738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99.9% fault-tolerant uptime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7 — THEMBELELE KHUZWAYO (402412842)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Where Can MAZI AI Be Deployed?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2933700"/>
            <a:ext cx="857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967037"/>
            <a:ext cx="11315700" cy="2952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DM Sans"/>
              </a:rPr>
              <a:t>Commercial &amp; Retail Banks:</a:t>
            </a:r>
            <a:r>
              <a:rPr sz="1800" b="0" i="0" u="none">
                <a:solidFill>
                  <a:srgbClr val="1E293B"/>
                </a:solidFill>
                <a:latin typeface="DM Sans"/>
              </a:rPr>
              <a:t> Real-time EFT, ATM cash-out, and card fraud interception.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3457575"/>
            <a:ext cx="857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90912"/>
            <a:ext cx="11315700" cy="2952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DM Sans"/>
              </a:rPr>
              <a:t>Fintech &amp; Mobile Money:</a:t>
            </a:r>
            <a:r>
              <a:rPr sz="1800" b="0" i="0" u="none">
                <a:solidFill>
                  <a:srgbClr val="1E293B"/>
                </a:solidFill>
                <a:latin typeface="DM Sans"/>
              </a:rPr>
              <a:t> Protecting instant digital wallets against balance-draining 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981450"/>
            <a:ext cx="857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14787"/>
            <a:ext cx="11315700" cy="2952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DM Sans"/>
              </a:rPr>
              <a:t>E-Commerce Payment Gateways:</a:t>
            </a:r>
            <a:r>
              <a:rPr sz="1800" b="0" i="0" u="none">
                <a:solidFill>
                  <a:srgbClr val="1E293B"/>
                </a:solidFill>
                <a:latin typeface="DM Sans"/>
              </a:rPr>
              <a:t> Screening online checkouts via POST /api/v1/transactions.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505325"/>
            <a:ext cx="857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538662"/>
            <a:ext cx="11315700" cy="2952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DM Sans"/>
              </a:rPr>
              <a:t>Bank Compliance &amp; Auditing:</a:t>
            </a:r>
            <a:r>
              <a:rPr sz="1800" b="0" i="0" u="none">
                <a:solidFill>
                  <a:srgbClr val="1E293B"/>
                </a:solidFill>
                <a:latin typeface="DM Sans"/>
              </a:rPr>
              <a:t> Inspecting immutable audit_logs and tuning risk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50381"/>
            <a:ext cx="181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26047" y="3050381"/>
            <a:ext cx="4427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3832" y="3050381"/>
            <a:ext cx="472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774281"/>
            <a:ext cx="181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26047" y="3774281"/>
            <a:ext cx="4427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3832" y="3774281"/>
            <a:ext cx="472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98181"/>
            <a:ext cx="181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26047" y="4498181"/>
            <a:ext cx="4427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3832" y="4498181"/>
            <a:ext cx="472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5222081"/>
            <a:ext cx="181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6047" y="5222081"/>
            <a:ext cx="4427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3832" y="5222081"/>
            <a:ext cx="472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9600" y="2526506"/>
            <a:ext cx="10972800" cy="27098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2526506"/>
          <a:ext cx="10972799" cy="2709862"/>
        </p:xfrm>
        <a:graphic>
          <a:graphicData uri="http://schemas.openxmlformats.org/drawingml/2006/table">
            <a:tbl>
              <a:tblPr/>
              <a:tblGrid>
                <a:gridCol w="1816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8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46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Security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Permitted Routes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Operational Privileges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46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11D48"/>
                          </a:solidFill>
                          <a:latin typeface="DM Sans"/>
                        </a:rPr>
                        <a:t>1. Admin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/dashboard, /users, /settings, /audit-logs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DM Sans"/>
                        </a:rPr>
                        <a:t>Full Command Center, user lock/unlock, threshold tuning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46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284C7"/>
                          </a:solidFill>
                          <a:latin typeface="DM Sans"/>
                        </a:rPr>
                        <a:t>2. Manager (Analyst)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E293B"/>
                          </a:solidFill>
                          <a:latin typeface="JetBrains Mono"/>
                        </a:rPr>
                        <a:t>/dashboard, /investigations, /analytics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DM Sans"/>
                        </a:rPr>
                        <a:t>Monitor traffic, inspect XAI bars, Confirm Fraud or Mark Safe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46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59669"/>
                          </a:solidFill>
                          <a:latin typeface="DM Sans"/>
                        </a:rPr>
                        <a:t>3. Customer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/transactions (Isolated)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E293B"/>
                          </a:solidFill>
                          <a:latin typeface="DM Sans"/>
                        </a:rPr>
                        <a:t>Restricted view of personal transaction history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8 — KAGISO NYATI (402411471)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Role-Based Access Control (security.py)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9 — KAGISO NYATI (402411471)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Synthetic Data &amp; POPIA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8525" y="2728912"/>
            <a:ext cx="6643687" cy="1304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0" b="1" i="0" u="none">
                <a:solidFill>
                  <a:srgbClr val="0284C7"/>
                </a:solidFill>
                <a:latin typeface="JetBrains Mono"/>
              </a:rPr>
              <a:t>5,090,096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3775" y="4186237"/>
            <a:ext cx="64055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Kaggle PaySim Financial Transactions 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2562" y="4557712"/>
            <a:ext cx="92868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0" i="0" u="none">
                <a:solidFill>
                  <a:srgbClr val="475569"/>
                </a:solidFill>
                <a:latin typeface="DM Sans"/>
              </a:rPr>
              <a:t>Respects South Africa's POPIA privacy laws while simulator.py streams live JHB, DBN, CPT, PTA, and Proxy traffic.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529590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847975"/>
            <a:ext cx="529590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10 — KAGISO NYATI (402411471)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Codebase Module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2775"/>
            <a:ext cx="615076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DM Sans"/>
              </a:rPr>
              <a:t>ML &amp; Database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152775"/>
            <a:ext cx="56007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11D48"/>
                </a:solidFill>
                <a:latin typeface="DM Sans"/>
              </a:rPr>
              <a:t>Backend, C++ &amp; Frontend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5337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562350"/>
            <a:ext cx="45910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Gareth (402412340):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train_model.py, fraud_engine.py, xai_engine.py.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1433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171950"/>
            <a:ext cx="45910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Thembelele (402412842):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mazi.db, init_db.py, auth.py, audit_logs.py.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5337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3562350"/>
            <a:ext cx="45910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Shelton &amp; Kagiso: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app.py, fast_math.cpp, api.py, simulator.py.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1433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171950"/>
            <a:ext cx="45910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Sibusiso &amp; Kamuhelo: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dashboard.html, dashboard.css, charts.js.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752850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60032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284C7"/>
                </a:solidFill>
                <a:latin typeface="JetBrains Mono"/>
              </a:rPr>
              <a:t>SECTION 02 — ARCHITECTURE &amp;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1465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DM Sans"/>
              </a:rPr>
              <a:t>Software Engineering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1450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DM Sans"/>
              </a:rPr>
              <a:t>Agile Iterative SDLC, 5-Tier Layered SoC, Flask Factory &amp; Polyglot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9912"/>
            <a:ext cx="2378868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4243" y="2995612"/>
            <a:ext cx="2378868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8887" y="3109912"/>
            <a:ext cx="2378868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03531" y="3109912"/>
            <a:ext cx="2378868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868" y="3795712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3795712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156" y="3795712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11 — SHELTON NGUBE (402410808)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Agile Iterative &amp; Incremental SDLC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76612"/>
            <a:ext cx="24973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284C7"/>
                </a:solidFill>
                <a:latin typeface="JetBrains Mono"/>
              </a:rPr>
              <a:t>SPRINT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43312"/>
            <a:ext cx="26222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Core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967162"/>
            <a:ext cx="20931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Built mazi.db schema plus app.py factory.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4743" y="3262312"/>
            <a:ext cx="24973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11D48"/>
                </a:solidFill>
                <a:latin typeface="JetBrains Mono"/>
              </a:rPr>
              <a:t>SPRINT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4743" y="3529012"/>
            <a:ext cx="26222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AI &amp; C++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4743" y="3852862"/>
            <a:ext cx="20931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Trained fraud_model.pkl alongside fast_math.cpp.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9387" y="3376612"/>
            <a:ext cx="24973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284C7"/>
                </a:solidFill>
                <a:latin typeface="JetBrains Mono"/>
              </a:rPr>
              <a:t>SPRINT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9387" y="3643312"/>
            <a:ext cx="26222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Command Center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9387" y="3967162"/>
            <a:ext cx="20931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Styled Glassmorphism CSS plus Chart.js visuals.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4031" y="3376612"/>
            <a:ext cx="24973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59669"/>
                </a:solidFill>
                <a:latin typeface="JetBrains Mono"/>
              </a:rPr>
              <a:t>SPRINT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4031" y="3643312"/>
            <a:ext cx="26222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Continuous 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4031" y="3967162"/>
            <a:ext cx="20931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Verified via test_cpp.py plus simulator.py.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669381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34171" y="2669381"/>
            <a:ext cx="3070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05091" y="2669381"/>
            <a:ext cx="537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40881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34171" y="3240881"/>
            <a:ext cx="3070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05091" y="3240881"/>
            <a:ext cx="537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812381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34171" y="3812381"/>
            <a:ext cx="3070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5091" y="3812381"/>
            <a:ext cx="537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383881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34171" y="4383881"/>
            <a:ext cx="3070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5091" y="4383881"/>
            <a:ext cx="537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955381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34171" y="4955381"/>
            <a:ext cx="3070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5091" y="4955381"/>
            <a:ext cx="537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5526881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34171" y="5526881"/>
            <a:ext cx="3070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5091" y="5526881"/>
            <a:ext cx="537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09600" y="2221706"/>
          <a:ext cx="10972798" cy="3319462"/>
        </p:xfrm>
        <a:graphic>
          <a:graphicData uri="http://schemas.openxmlformats.org/drawingml/2006/table">
            <a:tbl>
              <a:tblPr/>
              <a:tblGrid>
                <a:gridCol w="252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7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Architectural Tier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Directory / Files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DM Sans"/>
                        </a:rPr>
                        <a:t>1. Presentation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templates/, static/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HTML5, Jinja2, Glassmorphism CSS, Chart.js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DM Sans"/>
                        </a:rPr>
                        <a:t>2. Routing / Controller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routes/ (10 Blueprints)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HTTP request handling and JSON responses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DM Sans"/>
                        </a:rPr>
                        <a:t>3. Business / 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services/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Fraud orchestration, XAI weights, RBAC decorators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11D48"/>
                          </a:solidFill>
                          <a:latin typeface="DM Sans"/>
                        </a:rPr>
                        <a:t>4. Core Compute &amp; 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core_ml/, fast_math.cpp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Random Forest inference and native C++ math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247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59669"/>
                          </a:solidFill>
                          <a:latin typeface="DM Sans"/>
                        </a:rPr>
                        <a:t>5. Data Access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mazi.db (SQLite3)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5-table 3NF ACID relational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12 — SHELTON NGUBE (402410808)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5-Tier Layered Architecture (SoC)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52775"/>
            <a:ext cx="19050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14650" y="3038475"/>
            <a:ext cx="18669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81600" y="3038475"/>
            <a:ext cx="18669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48550" y="2924175"/>
            <a:ext cx="1866900" cy="191452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15500" y="3038475"/>
            <a:ext cx="18669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786187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3786187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78618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786187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VISUAL ARCHITECTURE DIAGRAM — GARETH CHINGWARU (402412340)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End-to-End Real-Time Processing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81375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1: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09975"/>
            <a:ext cx="21002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DM Sans"/>
              </a:rPr>
              <a:t>simulator.py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24300"/>
            <a:ext cx="1695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Fires JSON POST to /api/v1/transactions.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67075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STEP 2: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7050" y="3495675"/>
            <a:ext cx="20502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DM Sans"/>
              </a:rPr>
              <a:t>ML + C++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7050" y="3810000"/>
            <a:ext cx="1657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100 trees plus fast_math.pyd velocity.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3267075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3: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3495675"/>
            <a:ext cx="20502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DM Sans"/>
              </a:rPr>
              <a:t>xai_engine.py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3810000"/>
            <a:ext cx="1657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Computes 4 glass-box attribution weights.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950" y="3152775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59669"/>
                </a:solidFill>
                <a:latin typeface="JetBrains Mono"/>
              </a:rPr>
              <a:t>STEP 4: 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0950" y="3381375"/>
            <a:ext cx="20502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DM Sans"/>
              </a:rPr>
              <a:t>mazi.db 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950" y="3695700"/>
            <a:ext cx="16573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Writes transactions, predictions, audit_logs.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7900" y="3267075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STEP 5: 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7900" y="3495675"/>
            <a:ext cx="20502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DM Sans"/>
              </a:rPr>
              <a:t>dashboard.html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7900" y="3810000"/>
            <a:ext cx="1657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15s auto-sync updates Chart.js canvases.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57462"/>
            <a:ext cx="5257800" cy="268605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557462"/>
            <a:ext cx="5257800" cy="268605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13 — GARETH CHINGWARU (402412340)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Flask Factory &amp; 10 Modular Blueprints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62262"/>
            <a:ext cx="61007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DM Sans"/>
              </a:rPr>
              <a:t>Operations &amp; Analytics Blueprints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862262"/>
            <a:ext cx="55626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Governance &amp; Security Blueprints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2623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290887"/>
            <a:ext cx="5572125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dashboard_bp: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Live SOC Threat Command Center.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614737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643312"/>
            <a:ext cx="5572125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analytics_bp: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Deep-dive regional fraud trends.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96716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995737"/>
            <a:ext cx="5572125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transactions_bp: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Searchable payment ledger.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319587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348162"/>
            <a:ext cx="5572125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investigations_bp: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One-click case resolution.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6720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700587"/>
            <a:ext cx="5572125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api_bp: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JSON ingestion and /health 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32623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9900" y="3290887"/>
            <a:ext cx="53721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auth_bp: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Hardened PBKDF2 login and lockouts.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614737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3643312"/>
            <a:ext cx="53721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users_bp: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Admin RBAC account provisioning.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396716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900" y="3995737"/>
            <a:ext cx="53721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audit_logs_bp: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Read-only regulatory trail.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319587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4348162"/>
            <a:ext cx="53721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reports_bp: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Executive compliance exports.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3225" y="4672012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9900" y="4700587"/>
            <a:ext cx="53721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settings_bp: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Dynamic risk threshold controls.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6037"/>
            <a:ext cx="5257800" cy="26289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462212"/>
            <a:ext cx="5257800" cy="2876550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14 — GARETH CHINGWARU (402412340)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Polyglot &amp; Graceful Fallback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928937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284C7"/>
                </a:solidFill>
                <a:latin typeface="DM Sans"/>
              </a:rPr>
              <a:t>Hybrid Polyglot Synergy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805112"/>
            <a:ext cx="5524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59669"/>
                </a:solidFill>
                <a:latin typeface="DM Sans"/>
              </a:rPr>
              <a:t>99.9% Uptime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3385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67087"/>
            <a:ext cx="5476875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Python: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Flask routing and scikit-learn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7195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808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Native C++17: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CPU velocity math via fast_math.cpp.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3481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7673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JavaScript: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60fps DOM and Chart.js canvas drawing.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2146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4326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Zero Crashes: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Guarded imports in fraud_engine.py.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8433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7191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Auto-Switch: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Pure-Python heuristics if .pyd is missing.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4719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50056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Resilience: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Uninterrupted scoring on any server 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752850"/>
            <a:ext cx="6096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60032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11D48"/>
                </a:solidFill>
                <a:latin typeface="JetBrains Mono"/>
              </a:rPr>
              <a:t>SECTION 03 — DATABASE &amp; DEFENSIVE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1465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DM Sans"/>
              </a:rPr>
              <a:t>Database &amp; Cybersecurity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1450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DM Sans"/>
              </a:rPr>
              <a:t>5-Table 3NF SQLite Schema, PBKDF2-SHA256 Hashing, 5-Strike Lockouts &amp; Audit Logs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15 — THEMBELELE KHUZWAYO (402412842)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Relational Database Engine (mazi.db)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273367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767012"/>
            <a:ext cx="10929937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SQLite3 Engine: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High-speed 40 KB local ACID relational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22897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62312"/>
            <a:ext cx="10929937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create_db.py &amp; init_db.py: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Construct DDL schema and seed baseline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72427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57612"/>
            <a:ext cx="10929937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real_data.py: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Ingests realistic financial transaction records into mazi.db.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1957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52912"/>
            <a:ext cx="10929937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create_admin.py &amp; reset_admin.py: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Provision and recover admin credentials safely.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71487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748212"/>
            <a:ext cx="10929937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Live /health Check: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Returns {'status': 'healthy', 'version': '1.0.2', 'database': 'sqlite'}.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669381"/>
            <a:ext cx="2178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88294" y="2669381"/>
            <a:ext cx="3050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38378" y="2669381"/>
            <a:ext cx="5744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40881"/>
            <a:ext cx="2178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8294" y="3240881"/>
            <a:ext cx="3050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38378" y="3240881"/>
            <a:ext cx="5744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812381"/>
            <a:ext cx="2178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294" y="3812381"/>
            <a:ext cx="3050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38378" y="3812381"/>
            <a:ext cx="5744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383881"/>
            <a:ext cx="2178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294" y="4383881"/>
            <a:ext cx="3050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38378" y="4383881"/>
            <a:ext cx="5744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955381"/>
            <a:ext cx="2178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294" y="4955381"/>
            <a:ext cx="3050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38378" y="4955381"/>
            <a:ext cx="5744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5526881"/>
            <a:ext cx="21786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88294" y="5526881"/>
            <a:ext cx="30500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38378" y="5526881"/>
            <a:ext cx="5744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09600" y="2221706"/>
          <a:ext cx="10972798" cy="3319462"/>
        </p:xfrm>
        <a:graphic>
          <a:graphicData uri="http://schemas.openxmlformats.org/drawingml/2006/table">
            <a:tbl>
              <a:tblPr/>
              <a:tblGrid>
                <a:gridCol w="217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4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Table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Primary &amp; Foreign Keys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Core Attributes Stored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1. transactions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PK: id | UK: transaction_id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account_number, amount, location, risk_score, status, balances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2. 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PK: id | UK: email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username, password_hash, role, failed_attempts, account_locked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11D48"/>
                          </a:solidFill>
                          <a:latin typeface="JetBrains Mono"/>
                        </a:rPr>
                        <a:t>3. fraud_predictions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PK: id | FK: transaction_id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risk_score, is_fraud, model_version (v1.0.0), predicted_at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4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59669"/>
                          </a:solidFill>
                          <a:latin typeface="JetBrains Mono"/>
                        </a:rPr>
                        <a:t>4. audit_logs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PK: id | FK: user_id, txn_id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action (LOGIN, CONFIRM_FRAUD, MARK_SAFE), timestamp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247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5. settings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PK: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fraud_threshold (75.0), email_alerts, critical_alerts, operator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16 — THEMBELELE KHUZWAYO (402412842)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The 5 Core Database Tables (mazi.db)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9912"/>
            <a:ext cx="2321718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540918" y="3109912"/>
            <a:ext cx="2321718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86512" y="2995612"/>
            <a:ext cx="2321718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60681" y="3109912"/>
            <a:ext cx="2321718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68" y="3795712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795712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681" y="3795712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VISUAL ERD LINKS — THEMBELELE KHUZWAYO (402412842)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Relational Foreign-Key 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76612"/>
            <a:ext cx="242589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CONFIG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24262"/>
            <a:ext cx="25471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284C7"/>
                </a:solidFill>
                <a:latin typeface="DM Sans"/>
              </a:rPr>
              <a:t>settings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967162"/>
            <a:ext cx="203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Supplies dynamic 75.0% cutoff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1418" y="3376612"/>
            <a:ext cx="242589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CORE ENTITY (1:N)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1418" y="3624262"/>
            <a:ext cx="25471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E11D48"/>
                </a:solidFill>
                <a:latin typeface="DM Sans"/>
              </a:rP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1418" y="3967162"/>
            <a:ext cx="203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Primary transaction_id anchors all logs.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7012" y="3262312"/>
            <a:ext cx="242589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AI TELEMETRY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012" y="3509962"/>
            <a:ext cx="25471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fraud_predictions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7012" y="3852862"/>
            <a:ext cx="20359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Links model_version output to transaction_id.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1181" y="3376612"/>
            <a:ext cx="242589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59669"/>
                </a:solidFill>
                <a:latin typeface="JetBrains Mono"/>
              </a:rPr>
              <a:t>COMPLIANCE (2 FKs)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1181" y="3624262"/>
            <a:ext cx="25471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59669"/>
                </a:solidFill>
                <a:latin typeface="DM Sans"/>
              </a:rPr>
              <a:t>audit_logs +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1181" y="3967162"/>
            <a:ext cx="20359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Binds users.id actor to transactions.id.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2212"/>
            <a:ext cx="5257800" cy="2876550"/>
          </a:xfrm>
          <a:prstGeom prst="roundRect">
            <a:avLst>
              <a:gd name="adj" fmla="val 39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462212"/>
            <a:ext cx="5257800" cy="2876550"/>
          </a:xfrm>
          <a:prstGeom prst="roundRect">
            <a:avLst>
              <a:gd name="adj" fmla="val 39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17 — THEMBELELE KHUZWAYO (402412842)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3NF Normalization &amp; Fast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805112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284C7"/>
                </a:solidFill>
                <a:latin typeface="DM Sans"/>
              </a:rPr>
              <a:t>Third Normal Form (3NF)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805112"/>
            <a:ext cx="5524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F172A"/>
                </a:solidFill>
                <a:latin typeface="DM Sans"/>
              </a:rPr>
              <a:t>Indexed Service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2146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326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Zero Redundancy: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Isolates users, payments, and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433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7191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Referential Integrity: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Strict foreign-key enforcement.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4719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0056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Anomaly Prevention: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Protects historical records on updates.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2146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4326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get_transaction_stats():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Fast SQL SUM and COUNT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8433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7191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get_recent_transactions(15):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Bounded slice for live feed.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4719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500562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get_recent_cases(10):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Sub-second active alert retrieval.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3700"/>
            <a:ext cx="347975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933700"/>
            <a:ext cx="347975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933700"/>
            <a:ext cx="347975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3850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3238500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300" y="3238500"/>
            <a:ext cx="3905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SLIDE 18 — THEMBELELE KHUZWAYO (402412842)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Cryptographic Password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3800"/>
            <a:ext cx="376707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PBKDF2-SHA256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05275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Salted irreversible hashes via werkzeug.security.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0850" y="3733800"/>
            <a:ext cx="376707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Zero Plaintext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4105275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Stolen mazi.db files never expose credentials.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3733800"/>
            <a:ext cx="376707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Strict Regex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4105275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Requires 8+ chars with upper, lower, digit, symbol.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SLIDE 19 — THEMBELELE KHUZWAYO (402412842)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Brute-Force Lockout &amp;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209925"/>
            <a:ext cx="3857625" cy="752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00" b="1" i="0" u="none">
                <a:solidFill>
                  <a:srgbClr val="E11D48"/>
                </a:solidFill>
                <a:latin typeface="JetBrains Mono"/>
              </a:rPr>
              <a:t>5 Strikes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76700"/>
            <a:ext cx="3857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Account Lockout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62450"/>
            <a:ext cx="3857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Sets account_locked = 1 in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5700" y="3209925"/>
            <a:ext cx="3429000" cy="752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00" b="1" i="0" u="none">
                <a:solidFill>
                  <a:srgbClr val="0284C7"/>
                </a:solidFill>
                <a:latin typeface="JetBrains Mono"/>
              </a:rPr>
              <a:t>HTTP 429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5700" y="4076700"/>
            <a:ext cx="3429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IP Rate Limiter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5700" y="4362450"/>
            <a:ext cx="3429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Blocks rapid credential 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3209925"/>
            <a:ext cx="3429000" cy="752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00" b="1" i="0" u="none">
                <a:solidFill>
                  <a:srgbClr val="059669"/>
                </a:solidFill>
                <a:latin typeface="JetBrains Mono"/>
              </a:rPr>
              <a:t>HttpOnly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076700"/>
            <a:ext cx="3429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XSS Cookie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4362450"/>
            <a:ext cx="3429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Plus SameSite=Lax &amp; CSRFProtect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2100" y="3209925"/>
            <a:ext cx="3000375" cy="752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00" b="1" i="0" u="none">
                <a:solidFill>
                  <a:srgbClr val="0F172A"/>
                </a:solidFill>
                <a:latin typeface="JetBrains Mono"/>
              </a:rPr>
              <a:t>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2100" y="4076700"/>
            <a:ext cx="3000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Session Lifetime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2100" y="4362450"/>
            <a:ext cx="3000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Auto-expires idle terminals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20 — THEMBELELE KHUZWAYO (402412842)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Immutable Compliance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57525"/>
            <a:ext cx="942975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DM Sans"/>
              </a:rPr>
              <a:t>"In banking security, you must audit the auditors: every login, threshold change, and Confirm Fraud action writes a permanent append-only row into audit_logs."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86275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284C7"/>
                </a:solidFill>
                <a:latin typeface="JetBrains Mono"/>
              </a:rPr>
              <a:t>routes/audit_logs.py — Read-Only Regulatory Non-Repudiation Interface (Zero Delete Routes)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752850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60032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284C7"/>
                </a:solidFill>
                <a:latin typeface="JetBrains Mono"/>
              </a:rPr>
              <a:t>SECTION 04 — THE MACHINE LEARNING BRAIN &amp; 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1465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DM Sans"/>
              </a:rPr>
              <a:t>Random Forest &amp;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1450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DM Sans"/>
              </a:rPr>
              <a:t>5.09M PaySim Rows, 100 Decision Trees, Balanced Class Weights &amp; Glass-Box Attribution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0862"/>
            <a:ext cx="32702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60825" y="3090862"/>
            <a:ext cx="32702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12050" y="3090862"/>
            <a:ext cx="32702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786187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786187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21 — GARETH CHINGWARU (402412340)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Machine Learning Pipeline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57562"/>
            <a:ext cx="3421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284C7"/>
                </a:solidFill>
                <a:latin typeface="JetBrains Mono"/>
              </a:rPr>
              <a:t>STAGE 1: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24262"/>
            <a:ext cx="35920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ml_fraud_detection.ipynb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86212"/>
            <a:ext cx="2832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Jupyter correlation analysis across 5.09M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525" y="3357562"/>
            <a:ext cx="3421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11D48"/>
                </a:solidFill>
                <a:latin typeface="JetBrains Mono"/>
              </a:rPr>
              <a:t>STAGE 2: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525" y="3624262"/>
            <a:ext cx="35920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core_ml/train_model.py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525" y="3986212"/>
            <a:ext cx="2832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Fits Random Forest and exports fraud_model.pkl.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8750" y="3357562"/>
            <a:ext cx="3421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59669"/>
                </a:solidFill>
                <a:latin typeface="JetBrains Mono"/>
              </a:rPr>
              <a:t>STAGE 3: 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8750" y="3624262"/>
            <a:ext cx="35920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fraud_engine.py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8750" y="3986212"/>
            <a:ext cx="2832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Loads serialized brain into Flask for live scoring.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22 — GARETH CHINGWARU (402412340)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Why Random Forest Classifier?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86112"/>
            <a:ext cx="2476500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284C7"/>
                </a:solidFill>
                <a:latin typeface="JetBrains Mono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00512"/>
            <a:ext cx="2476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Decision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86262"/>
            <a:ext cx="2476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n_estimators=100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3250" y="3186112"/>
            <a:ext cx="3619500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E11D48"/>
                </a:solidFill>
                <a:latin typeface="JetBrains Mono"/>
              </a:rPr>
              <a:t>Depth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3250" y="4100512"/>
            <a:ext cx="3619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Overfit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3250" y="4386262"/>
            <a:ext cx="361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min_samples_split=5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301" y="3186112"/>
            <a:ext cx="452437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59669"/>
                </a:solidFill>
                <a:latin typeface="JetBrains Mono"/>
              </a:rPr>
              <a:t>Non-Linear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1301" y="4100512"/>
            <a:ext cx="4524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Drain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1301" y="4386262"/>
            <a:ext cx="4524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Spots balance dropping to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3252" y="3186112"/>
            <a:ext cx="2786062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F172A"/>
                </a:solidFill>
                <a:latin typeface="JetBrains Mono"/>
              </a:rPr>
              <a:t>0–100%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3252" y="4100512"/>
            <a:ext cx="2786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predict_proba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3252" y="4386262"/>
            <a:ext cx="2786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Exact probability calibration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6037"/>
            <a:ext cx="5257800" cy="26289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586037"/>
            <a:ext cx="5257800" cy="26289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SLIDE 23 — GARETH CHINGWARU (402412340)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Solving Extreme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928937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E11D48"/>
                </a:solidFill>
                <a:latin typeface="DM Sans"/>
              </a:rPr>
              <a:t>The 0.129% Fraud Paradox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928937"/>
            <a:ext cx="5524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59669"/>
                </a:solidFill>
                <a:latin typeface="DM Sans"/>
              </a:rPr>
              <a:t>MAZI AI Balanced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3385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6708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99.87% Safe Traffic: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Only 6,570 frauds in 5.09M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9671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9573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Naive AI Failure: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Guessing Safe yields 99.8%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5958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24387"/>
            <a:ext cx="5476875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Fatal Flaw: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Misses 100% of real criminals.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3385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36708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class_weight='balanced':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Penalizes missed fraud 774x harder.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9671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9573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Stratified Split: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Preserves exact 0.129% ratio in test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5958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6243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Result: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Aggressive minority-class fraud hunting.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24 — GARETH CHINGWARU (402412340)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The 10 Engineered ML Input Features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25 — GARETH CHINGWARU (402412340)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Model Evaluation &amp; Live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8625" y="2833687"/>
            <a:ext cx="2906245" cy="12464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0" b="1" i="0" u="none" dirty="0">
                <a:solidFill>
                  <a:srgbClr val="059669"/>
                </a:solidFill>
                <a:latin typeface="JetBrains Mono"/>
              </a:rPr>
              <a:t>0.9</a:t>
            </a:r>
            <a:r>
              <a:rPr lang="en-US" sz="8100" b="1" i="0" u="none" dirty="0">
                <a:solidFill>
                  <a:srgbClr val="059669"/>
                </a:solidFill>
                <a:latin typeface="JetBrains Mono"/>
              </a:rPr>
              <a:t>6</a:t>
            </a:r>
            <a:r>
              <a:rPr sz="8100" b="1" i="0" u="none" dirty="0">
                <a:solidFill>
                  <a:srgbClr val="059669"/>
                </a:solidFill>
                <a:latin typeface="JetBrains Mono"/>
              </a:rPr>
              <a:t>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8987" y="4338637"/>
            <a:ext cx="691753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ROC-AUC Score (98.2% Live Accuracy | 1.8% FPR)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2612" y="4710112"/>
            <a:ext cx="103393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JetBrains Mono"/>
              </a:rPr>
              <a:t>services/fraud_engine.py computes model.predict_proba(X)[0][1] * 100 in real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SLIDE 26 — GARETH CHINGWARU (402412340)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Explainable AI (services/xai_engine.py)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27 — KAGISO NYATI (402411471)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Backend Control Center (app.py)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298132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014662"/>
            <a:ext cx="10894218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Master Power Switch: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Boots Flask server on port 5000 connecting DB, AI, and C++.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47662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09962"/>
            <a:ext cx="10894218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Rotating Diagnostic Logs: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logs/mazi.log stores 10 backup files at 100 KB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7192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05262"/>
            <a:ext cx="10894218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Global Context Processor: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Injects current_user and current_role into all templates.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467225"/>
            <a:ext cx="762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500562"/>
            <a:ext cx="10894218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E293B"/>
                </a:solidFill>
                <a:latin typeface="DM Sans"/>
              </a:rPr>
              <a:t>config.py Management:</a:t>
            </a:r>
            <a:r>
              <a:rPr sz="1725" b="0" i="0" u="none">
                <a:solidFill>
                  <a:srgbClr val="1E293B"/>
                </a:solidFill>
                <a:latin typeface="DM Sans"/>
              </a:rPr>
              <a:t> Secures cryptographic SECRET_KEY and environment paths.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0862"/>
            <a:ext cx="32956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48175" y="3090862"/>
            <a:ext cx="32956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86750" y="3090862"/>
            <a:ext cx="32956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3786187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275" y="3786187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28 — KAGISO NYATI (402411471)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REST API &amp; JSON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57562"/>
            <a:ext cx="3452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284C7"/>
                </a:solidFill>
                <a:latin typeface="JetBrains Mono"/>
              </a:rPr>
              <a:t>routes/api.py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24262"/>
            <a:ext cx="362545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POST /api/v1/transactions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86212"/>
            <a:ext cx="2857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Ingests live JSON payment payloads.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875" y="3357562"/>
            <a:ext cx="3452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11D48"/>
                </a:solidFill>
                <a:latin typeface="JetBrains Mono"/>
              </a:rPr>
              <a:t>HTTP 201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875" y="3624262"/>
            <a:ext cx="362545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Scores &amp;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4875" y="3986212"/>
            <a:ext cx="2857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Saves risk_score into mazi.db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3450" y="3357562"/>
            <a:ext cx="3452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59669"/>
                </a:solidFill>
                <a:latin typeface="JetBrains Mono"/>
              </a:rPr>
              <a:t>routes/dashboard.py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3450" y="3624262"/>
            <a:ext cx="362545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Chart.js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3450" y="3986212"/>
            <a:ext cx="2857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Serializes SQLite totals into browser JSON.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145631"/>
            <a:ext cx="2216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26097" y="3145631"/>
            <a:ext cx="57935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19678" y="3145631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793331"/>
            <a:ext cx="2216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26097" y="3793331"/>
            <a:ext cx="57935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19678" y="3793331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41031"/>
            <a:ext cx="2216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26097" y="4441031"/>
            <a:ext cx="57935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19678" y="4441031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5088731"/>
            <a:ext cx="2216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26097" y="5088731"/>
            <a:ext cx="57935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19678" y="5088731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9600" y="2659856"/>
            <a:ext cx="10972800" cy="24431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2659856"/>
          <a:ext cx="10972799" cy="2443162"/>
        </p:xfrm>
        <a:graphic>
          <a:graphicData uri="http://schemas.openxmlformats.org/drawingml/2006/table">
            <a:tbl>
              <a:tblPr/>
              <a:tblGrid>
                <a:gridCol w="2216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3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79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Simulator 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Generated Values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Console Telemetry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9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Accounts &amp; Loop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ACC-1000 to ACC-9999 (Every 3–7s)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59669"/>
                          </a:solidFill>
                          <a:latin typeface="DM Sans"/>
                        </a:rPr>
                        <a:t>Safe Txn (Risk &lt;= 40)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79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Amounts &amp; 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R50 to R25,000 (PAYMENT, TRANSFER, CASH_OUT)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DM Sans"/>
                        </a:rPr>
                        <a:t>Suspicious (Risk &gt; 40)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79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293B"/>
                          </a:solidFill>
                          <a:latin typeface="DM Sans"/>
                        </a:rPr>
                        <a:t>Geolocation Nodes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JHB, DBN, CPT, PTA, Lagos NG (Proxy)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11D48"/>
                          </a:solidFill>
                          <a:latin typeface="DM Sans"/>
                        </a:rPr>
                        <a:t>FRAUD FLAGGED (Risk &gt; 75)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29 — KAGISO NYATI (402411471)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Live Traffic Simulator (simulator.py)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11D48"/>
                </a:solidFill>
                <a:latin typeface="JetBrains Mono"/>
              </a:rPr>
              <a:t>SLIDE 30 — SHELTON NGUBE (402410808)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C++ Velocity Engine (fast_math.cpp)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1844"/>
            <a:ext cx="5257800" cy="2097285"/>
          </a:xfrm>
          <a:prstGeom prst="roundRect">
            <a:avLst>
              <a:gd name="adj" fmla="val 54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466975"/>
            <a:ext cx="5257800" cy="28670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642419"/>
            <a:ext cx="1661070" cy="2208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034730"/>
            <a:ext cx="2884884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406205"/>
            <a:ext cx="3223468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31 — SHELTON NGUBE (402410808)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C++ Velocity Risk Formulas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4744"/>
            <a:ext cx="60007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DM Sans"/>
              </a:rPr>
              <a:t>1. calculate_risk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2809875"/>
            <a:ext cx="55245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2. Native std::vector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32099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3850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batch_process: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Uses contiguous C++ std::vector.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38385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6715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CPU Cache Speed: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Sums massive transaction batches directly.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44672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495800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Zero GIL Bottleneck: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Bypasses slow Python loop overhead.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SLIDES 32 &amp; 33 — SIBUSISO KWINDA (402312989)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Command Center UI (dashboard.html)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284C7"/>
                </a:solidFill>
                <a:latin typeface="DM Sans"/>
              </a:rPr>
              <a:t>base.html Sidebar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Persistent 8-module operator navigation.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65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E11D48"/>
                </a:solidFill>
                <a:latin typeface="DM Sans"/>
              </a:rPr>
              <a:t>5 Live 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Volume, alerts, accuracy, uptime, 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59669"/>
                </a:solidFill>
                <a:latin typeface="DM Sans"/>
              </a:rPr>
              <a:t>Core Engine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Live UTC clock with green pulse.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735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ML Telemetry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735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Displays 0.999 ROC-AUC on 5.09M rows.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193256"/>
            <a:ext cx="998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08236" y="3193256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68414" y="3193256"/>
            <a:ext cx="2049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17628" y="3193256"/>
            <a:ext cx="21270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44680" y="3193256"/>
            <a:ext cx="41377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802856"/>
            <a:ext cx="998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08236" y="3802856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68414" y="3802856"/>
            <a:ext cx="2049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17628" y="3802856"/>
            <a:ext cx="21270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44680" y="3802856"/>
            <a:ext cx="41377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412456"/>
            <a:ext cx="998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08236" y="4412456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8414" y="4412456"/>
            <a:ext cx="2049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17628" y="4412456"/>
            <a:ext cx="21270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44680" y="4412456"/>
            <a:ext cx="41377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5022056"/>
            <a:ext cx="998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08236" y="5022056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68414" y="5022056"/>
            <a:ext cx="2049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17628" y="5022056"/>
            <a:ext cx="21270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44680" y="5022056"/>
            <a:ext cx="41377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9600" y="2726531"/>
            <a:ext cx="10972800" cy="23098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9600" y="2726531"/>
          <a:ext cx="10972797" cy="2309812"/>
        </p:xfrm>
        <a:graphic>
          <a:graphicData uri="http://schemas.openxmlformats.org/drawingml/2006/table">
            <a:tbl>
              <a:tblPr/>
              <a:tblGrid>
                <a:gridCol w="998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7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Case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Risk Badge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Attack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Capital Protected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DM Sans"/>
                        </a:rPr>
                        <a:t>Jinja2 / Route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Case #5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11D48"/>
                          </a:solidFill>
                          <a:latin typeface="DM Sans"/>
                        </a:rPr>
                        <a:t>Critical (96%)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Account Takeover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R 50,000.00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investigations.resolve_case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Case #1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11D48"/>
                          </a:solidFill>
                          <a:latin typeface="DM Sans"/>
                        </a:rPr>
                        <a:t>Critical (91%)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Card Fraud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R 18,450.00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{{ stats.transaction_count 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JetBrains Mono"/>
                        </a:rPr>
                        <a:t>Case #3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High (79%)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DM Sans"/>
                        </a:rPr>
                        <a:t>Identity Theft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R 12,200.00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{% for case in fraud_cases %}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 34 — SIBUSISO KWINDA (402312989)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Active Interceptions &amp; Jinja2 Engine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SLIDES 35 &amp; 36 — KAMUHELO CHAKA (402309160)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Glassmorphism &amp; Chart.js Visualizers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224212"/>
            <a:ext cx="257175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SLIDES 37–39 — GARETH CHINGWARU (402412340)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DM Sans"/>
              </a:rPr>
              <a:t>Live Demo, QA Testing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284C7"/>
                </a:solidFill>
                <a:latin typeface="DM Sans"/>
              </a:rPr>
              <a:t>4-Step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Login then simulator.py then XAI confirm.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65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59669"/>
                </a:solidFill>
                <a:latin typeface="DM Sans"/>
              </a:rPr>
              <a:t>4-Level QA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Verified test_cpp.py plus 5-strike lockouts.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E11D48"/>
                </a:solidFill>
                <a:latin typeface="DM Sans"/>
              </a:rPr>
              <a:t>Graph Neural Nets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Future syndicate money-laundering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7350" y="34909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DM Sans"/>
              </a:rPr>
              <a:t>Cloud &amp;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7350" y="3852862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Twilio push alerts on Docker PostgreSQL.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53100" y="4100512"/>
            <a:ext cx="6858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5718" y="1995487"/>
            <a:ext cx="45005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8BDF8"/>
                </a:solidFill>
                <a:latin typeface="JetBrains Mono"/>
              </a:rPr>
              <a:t>SLIDE 40 — PROJECT X FINAL DEFENSE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6628" y="2338387"/>
            <a:ext cx="9938742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DM Sans"/>
              </a:rPr>
              <a:t>Thank You Panel &amp; Examiners!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312" y="3205162"/>
            <a:ext cx="102393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DM Sans"/>
              </a:rPr>
              <a:t>99.9% ROC-AUC Random Forest • 0.42ms C++ Velocity Engine • Glass-Box Explainable AI • 5-Table 3NF SQLite Fortress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4443412"/>
            <a:ext cx="1295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E2E8F0"/>
                </a:solidFill>
                <a:latin typeface="JetBrains Mono"/>
              </a:rPr>
              <a:t>Gareth (402412340) • Thembelele (402412842) • Kagiso (402411471) • Shelton (402410808) • Sibusiso (402312989) • Kamuhelo (402309160)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2870</Words>
  <Application>Microsoft Office PowerPoint</Application>
  <PresentationFormat>Widescreen</PresentationFormat>
  <Paragraphs>476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Imprint MT Shadow</vt:lpstr>
      <vt:lpstr>Arial</vt:lpstr>
      <vt:lpstr>DM Sans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Gareth Mazivanhanga</cp:lastModifiedBy>
  <cp:revision>3</cp:revision>
  <dcterms:created xsi:type="dcterms:W3CDTF">2013-01-27T09:14:16Z</dcterms:created>
  <dcterms:modified xsi:type="dcterms:W3CDTF">2026-10-28T13:52:15Z</dcterms:modified>
  <cp:category/>
</cp:coreProperties>
</file>